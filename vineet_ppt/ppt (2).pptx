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embedTrueTypeFonts="1" saveSubsetFonts="1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6858000"/>
  <p:notesSz cx="12192000" cy="6858000"/>
  <p:embeddedFontLst>
    <p:embeddedFont>
      <p:font typeface="TPOWJC+ArialRoundedMTBold,Bold"/>
      <p:regular r:id="rId19"/>
    </p:embeddedFont>
    <p:embeddedFont>
      <p:font typeface="PSSBRG+ArialRoundedMTBold"/>
      <p:regular r:id="rId20"/>
    </p:embeddedFont>
    <p:embeddedFont>
      <p:font typeface="PVJQHU+TrebuchetMS"/>
      <p:regular r:id="rId21"/>
    </p:embeddedFont>
    <p:embeddedFont>
      <p:font typeface="RUTIIH+SegoeUISymbol"/>
      <p:regular r:id="rId22"/>
    </p:embeddedFont>
    <p:embeddedFont>
      <p:font typeface="PQTFNA+Wingdings3"/>
      <p:regular r:id="rId23"/>
    </p:embeddedFont>
    <p:embeddedFont>
      <p:font typeface="SRUVWK+SegoeUIEmoji"/>
      <p:regular r:id="rId24"/>
    </p:embeddedFont>
    <p:embeddedFont>
      <p:font typeface="NOFUMC+CambriaMath"/>
      <p:regular r:id="rId25"/>
    </p:embeddedFont>
    <p:embeddedFont>
      <p:font typeface="PJSNHG+ArialMT"/>
      <p:regular r:id="rId2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2482" y="-91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presProps" Target="presProps.xml" /><Relationship Id="rId10" Type="http://schemas.openxmlformats.org/officeDocument/2006/relationships/slide" Target="slides/slide5.xml" /><Relationship Id="rId11" Type="http://schemas.openxmlformats.org/officeDocument/2006/relationships/slide" Target="slides/slide6.xml" /><Relationship Id="rId12" Type="http://schemas.openxmlformats.org/officeDocument/2006/relationships/slide" Target="slides/slide7.xml" /><Relationship Id="rId13" Type="http://schemas.openxmlformats.org/officeDocument/2006/relationships/slide" Target="slides/slide8.xml" /><Relationship Id="rId14" Type="http://schemas.openxmlformats.org/officeDocument/2006/relationships/slide" Target="slides/slide9.xml" /><Relationship Id="rId15" Type="http://schemas.openxmlformats.org/officeDocument/2006/relationships/slide" Target="slides/slide10.xml" /><Relationship Id="rId16" Type="http://schemas.openxmlformats.org/officeDocument/2006/relationships/slide" Target="slides/slide11.xml" /><Relationship Id="rId17" Type="http://schemas.openxmlformats.org/officeDocument/2006/relationships/slide" Target="slides/slide12.xml" /><Relationship Id="rId18" Type="http://schemas.openxmlformats.org/officeDocument/2006/relationships/slide" Target="slides/slide13.xml" /><Relationship Id="rId19" Type="http://schemas.openxmlformats.org/officeDocument/2006/relationships/font" Target="fonts/font1.fntdata" /><Relationship Id="rId2" Type="http://schemas.openxmlformats.org/officeDocument/2006/relationships/tableStyles" Target="tableStyles.xml" /><Relationship Id="rId20" Type="http://schemas.openxmlformats.org/officeDocument/2006/relationships/font" Target="fonts/font2.fntdata" /><Relationship Id="rId21" Type="http://schemas.openxmlformats.org/officeDocument/2006/relationships/font" Target="fonts/font3.fntdata" /><Relationship Id="rId22" Type="http://schemas.openxmlformats.org/officeDocument/2006/relationships/font" Target="fonts/font4.fntdata" /><Relationship Id="rId23" Type="http://schemas.openxmlformats.org/officeDocument/2006/relationships/font" Target="fonts/font5.fntdata" /><Relationship Id="rId24" Type="http://schemas.openxmlformats.org/officeDocument/2006/relationships/font" Target="fonts/font6.fntdata" /><Relationship Id="rId25" Type="http://schemas.openxmlformats.org/officeDocument/2006/relationships/font" Target="fonts/font7.fntdata" /><Relationship Id="rId26" Type="http://schemas.openxmlformats.org/officeDocument/2006/relationships/font" Target="fonts/font8.fntdata" /><Relationship Id="rId3" Type="http://schemas.openxmlformats.org/officeDocument/2006/relationships/viewProps" Target="viewProps.xml" /><Relationship Id="rId4" Type="http://schemas.openxmlformats.org/officeDocument/2006/relationships/theme" Target="theme/theme1.xml" /><Relationship Id="rId5" Type="http://schemas.openxmlformats.org/officeDocument/2006/relationships/slideMaster" Target="slideMasters/slideMaster1.xml" /><Relationship Id="rId6" Type="http://schemas.openxmlformats.org/officeDocument/2006/relationships/slide" Target="slides/slide1.xml" /><Relationship Id="rId7" Type="http://schemas.openxmlformats.org/officeDocument/2006/relationships/slide" Target="slides/slide2.xml" /><Relationship Id="rId8" Type="http://schemas.openxmlformats.org/officeDocument/2006/relationships/slide" Target="slides/slide3.xml" /><Relationship Id="rId9" Type="http://schemas.openxmlformats.org/officeDocument/2006/relationships/slide" Target="slides/slide4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27.02.2014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В‹#В›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7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8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9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0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1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2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3.pn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21544" y="1898467"/>
            <a:ext cx="8783656" cy="39082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777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>
                <a:solidFill>
                  <a:srgbClr val="00b0f0"/>
                </a:solidFill>
                <a:latin typeface="TPOWJC+ArialRoundedMTBold,Bold"/>
                <a:cs typeface="TPOWJC+ArialRoundedMTBold,Bold"/>
              </a:rPr>
              <a:t>PROJECT</a:t>
            </a:r>
            <a:r>
              <a:rPr dirty="0" sz="2400">
                <a:solidFill>
                  <a:srgbClr val="00b0f0"/>
                </a:solidFill>
                <a:latin typeface="TPOWJC+ArialRoundedMTBold,Bold"/>
                <a:cs typeface="TPOWJC+ArialRoundedMTBold,Bold"/>
              </a:rPr>
              <a:t> </a:t>
            </a:r>
            <a:r>
              <a:rPr dirty="0" sz="2400">
                <a:solidFill>
                  <a:srgbClr val="00b0f0"/>
                </a:solidFill>
                <a:latin typeface="TPOWJC+ArialRoundedMTBold,Bold"/>
                <a:cs typeface="TPOWJC+ArialRoundedMTBold,Bold"/>
              </a:rPr>
              <a:t>NAME:</a:t>
            </a:r>
            <a:r>
              <a:rPr dirty="0" sz="2400" spc="1032">
                <a:solidFill>
                  <a:srgbClr val="00b0f0"/>
                </a:solidFill>
                <a:latin typeface="TPOWJC+ArialRoundedMTBold,Bold"/>
                <a:cs typeface="TPOWJC+ArialRoundedMTBold,Bold"/>
              </a:rPr>
              <a:t> </a:t>
            </a:r>
            <a:r>
              <a:rPr dirty="0" sz="2400">
                <a:solidFill>
                  <a:srgbClr val="90c226"/>
                </a:solidFill>
                <a:latin typeface="PSSBRG+ArialRoundedMTBold"/>
                <a:cs typeface="PSSBRG+ArialRoundedMTBold"/>
              </a:rPr>
              <a:t>Student</a:t>
            </a:r>
            <a:r>
              <a:rPr dirty="0" sz="2400">
                <a:solidFill>
                  <a:srgbClr val="90c226"/>
                </a:solidFill>
                <a:latin typeface="PSSBRG+ArialRoundedMTBold"/>
                <a:cs typeface="PSSBRG+ArialRoundedMTBold"/>
              </a:rPr>
              <a:t> </a:t>
            </a:r>
            <a:r>
              <a:rPr dirty="0" sz="2400">
                <a:solidFill>
                  <a:srgbClr val="90c226"/>
                </a:solidFill>
                <a:latin typeface="PSSBRG+ArialRoundedMTBold"/>
                <a:cs typeface="PSSBRG+ArialRoundedMTBold"/>
              </a:rPr>
              <a:t>Marksheet</a:t>
            </a:r>
            <a:r>
              <a:rPr dirty="0" sz="2400">
                <a:solidFill>
                  <a:srgbClr val="90c226"/>
                </a:solidFill>
                <a:latin typeface="PSSBRG+ArialRoundedMTBold"/>
                <a:cs typeface="PSSBRG+ArialRoundedMTBold"/>
              </a:rPr>
              <a:t> </a:t>
            </a:r>
            <a:r>
              <a:rPr dirty="0" sz="2400">
                <a:solidFill>
                  <a:srgbClr val="90c226"/>
                </a:solidFill>
                <a:latin typeface="PSSBRG+ArialRoundedMTBold"/>
                <a:cs typeface="PSSBRG+ArialRoundedMTBold"/>
              </a:rPr>
              <a:t>and</a:t>
            </a:r>
            <a:r>
              <a:rPr dirty="0" sz="2400">
                <a:solidFill>
                  <a:srgbClr val="90c226"/>
                </a:solidFill>
                <a:latin typeface="PSSBRG+ArialRoundedMTBold"/>
                <a:cs typeface="PSSBRG+ArialRoundedMTBold"/>
              </a:rPr>
              <a:t> </a:t>
            </a:r>
            <a:r>
              <a:rPr dirty="0" sz="2400">
                <a:solidFill>
                  <a:srgbClr val="90c226"/>
                </a:solidFill>
                <a:latin typeface="PSSBRG+ArialRoundedMTBold"/>
                <a:cs typeface="PSSBRG+ArialRoundedMTBold"/>
              </a:rPr>
              <a:t>Ranking</a:t>
            </a:r>
            <a:r>
              <a:rPr dirty="0" sz="2400">
                <a:solidFill>
                  <a:srgbClr val="90c226"/>
                </a:solidFill>
                <a:latin typeface="PSSBRG+ArialRoundedMTBold"/>
                <a:cs typeface="PSSBRG+ArialRoundedMTBold"/>
              </a:rPr>
              <a:t> </a:t>
            </a:r>
            <a:r>
              <a:rPr dirty="0" sz="2400">
                <a:solidFill>
                  <a:srgbClr val="90c226"/>
                </a:solidFill>
                <a:latin typeface="PSSBRG+ArialRoundedMTBold"/>
                <a:cs typeface="PSSBRG+ArialRoundedMTBold"/>
              </a:rPr>
              <a:t>System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9600" y="3012416"/>
            <a:ext cx="1572277" cy="30353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808080"/>
                </a:solidFill>
                <a:latin typeface="PVJQHU+TrebuchetMS"/>
                <a:cs typeface="PVJQHU+TrebuchetMS"/>
              </a:rPr>
              <a:t>SUBMITED</a:t>
            </a:r>
            <a:r>
              <a:rPr dirty="0" sz="1800">
                <a:solidFill>
                  <a:srgbClr val="80808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808080"/>
                </a:solidFill>
                <a:latin typeface="PVJQHU+TrebuchetMS"/>
                <a:cs typeface="PVJQHU+TrebuchetMS"/>
              </a:rPr>
              <a:t>BY: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977228" y="3012416"/>
            <a:ext cx="2752540" cy="1106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808080"/>
                </a:solidFill>
                <a:latin typeface="PVJQHU+TrebuchetMS"/>
                <a:cs typeface="PVJQHU+TrebuchetMS"/>
              </a:rPr>
              <a:t>GUIDENCE/SUBMITED</a:t>
            </a:r>
            <a:r>
              <a:rPr dirty="0" sz="1800">
                <a:solidFill>
                  <a:srgbClr val="80808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808080"/>
                </a:solidFill>
                <a:latin typeface="PVJQHU+TrebuchetMS"/>
                <a:cs typeface="PVJQHU+TrebuchetMS"/>
              </a:rPr>
              <a:t>TO:</a:t>
            </a:r>
          </a:p>
          <a:p>
            <a:pPr marL="38405" marR="0">
              <a:lnSpc>
                <a:spcPts val="2090"/>
              </a:lnSpc>
              <a:spcBef>
                <a:spcPts val="1069"/>
              </a:spcBef>
              <a:spcAft>
                <a:spcPts val="0"/>
              </a:spcAft>
            </a:pPr>
            <a:r>
              <a:rPr dirty="0" sz="1800">
                <a:solidFill>
                  <a:srgbClr val="808080"/>
                </a:solidFill>
                <a:latin typeface="PVJQHU+TrebuchetMS"/>
                <a:cs typeface="PVJQHU+TrebuchetMS"/>
              </a:rPr>
              <a:t>MISS.NAINA</a:t>
            </a:r>
            <a:r>
              <a:rPr dirty="0" sz="1800">
                <a:solidFill>
                  <a:srgbClr val="80808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808080"/>
                </a:solidFill>
                <a:latin typeface="PVJQHU+TrebuchetMS"/>
                <a:cs typeface="PVJQHU+TrebuchetMS"/>
              </a:rPr>
              <a:t>DEVI</a:t>
            </a:r>
          </a:p>
          <a:p>
            <a:pPr marL="12839" marR="0">
              <a:lnSpc>
                <a:spcPts val="2090"/>
              </a:lnSpc>
              <a:spcBef>
                <a:spcPts val="1019"/>
              </a:spcBef>
              <a:spcAft>
                <a:spcPts val="0"/>
              </a:spcAft>
            </a:pPr>
            <a:r>
              <a:rPr dirty="0" sz="1800">
                <a:solidFill>
                  <a:srgbClr val="808080"/>
                </a:solidFill>
                <a:latin typeface="PVJQHU+TrebuchetMS"/>
                <a:cs typeface="PVJQHU+TrebuchetMS"/>
              </a:rPr>
              <a:t>IBM</a:t>
            </a:r>
            <a:r>
              <a:rPr dirty="0" sz="1800">
                <a:solidFill>
                  <a:srgbClr val="80808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808080"/>
                </a:solidFill>
                <a:latin typeface="PVJQHU+TrebuchetMS"/>
                <a:cs typeface="PVJQHU+TrebuchetMS"/>
              </a:rPr>
              <a:t>SME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09600" y="3413736"/>
            <a:ext cx="2161181" cy="15074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808080"/>
                </a:solidFill>
                <a:latin typeface="PVJQHU+TrebuchetMS"/>
                <a:cs typeface="PVJQHU+TrebuchetMS"/>
              </a:rPr>
              <a:t>VINEET</a:t>
            </a:r>
            <a:r>
              <a:rPr dirty="0" sz="1800" spc="1082">
                <a:solidFill>
                  <a:srgbClr val="80808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808080"/>
                </a:solidFill>
                <a:latin typeface="PVJQHU+TrebuchetMS"/>
                <a:cs typeface="PVJQHU+TrebuchetMS"/>
              </a:rPr>
              <a:t>VIDYARTHI</a:t>
            </a:r>
          </a:p>
          <a:p>
            <a:pPr marL="0" marR="0">
              <a:lnSpc>
                <a:spcPts val="2090"/>
              </a:lnSpc>
              <a:spcBef>
                <a:spcPts val="1069"/>
              </a:spcBef>
              <a:spcAft>
                <a:spcPts val="0"/>
              </a:spcAft>
            </a:pPr>
            <a:r>
              <a:rPr dirty="0" sz="1800">
                <a:solidFill>
                  <a:srgbClr val="808080"/>
                </a:solidFill>
                <a:latin typeface="PVJQHU+TrebuchetMS"/>
                <a:cs typeface="PVJQHU+TrebuchetMS"/>
              </a:rPr>
              <a:t>1</a:t>
            </a:r>
            <a:r>
              <a:rPr dirty="0" sz="1800" baseline="29999">
                <a:solidFill>
                  <a:srgbClr val="808080"/>
                </a:solidFill>
                <a:latin typeface="PVJQHU+TrebuchetMS"/>
                <a:cs typeface="PVJQHU+TrebuchetMS"/>
              </a:rPr>
              <a:t>ST</a:t>
            </a:r>
            <a:r>
              <a:rPr dirty="0" sz="1800" baseline="29999" spc="183">
                <a:solidFill>
                  <a:srgbClr val="80808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808080"/>
                </a:solidFill>
                <a:latin typeface="PVJQHU+TrebuchetMS"/>
                <a:cs typeface="PVJQHU+TrebuchetMS"/>
              </a:rPr>
              <a:t>SEMESTER</a:t>
            </a:r>
          </a:p>
          <a:p>
            <a:pPr marL="0" marR="0">
              <a:lnSpc>
                <a:spcPts val="2090"/>
              </a:lnSpc>
              <a:spcBef>
                <a:spcPts val="1019"/>
              </a:spcBef>
              <a:spcAft>
                <a:spcPts val="0"/>
              </a:spcAft>
            </a:pPr>
            <a:r>
              <a:rPr dirty="0" sz="1800">
                <a:solidFill>
                  <a:srgbClr val="808080"/>
                </a:solidFill>
                <a:latin typeface="PVJQHU+TrebuchetMS"/>
                <a:cs typeface="PVJQHU+TrebuchetMS"/>
              </a:rPr>
              <a:t>BTECH</a:t>
            </a:r>
            <a:r>
              <a:rPr dirty="0" sz="1800">
                <a:solidFill>
                  <a:srgbClr val="80808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808080"/>
                </a:solidFill>
                <a:latin typeface="PVJQHU+TrebuchetMS"/>
                <a:cs typeface="PVJQHU+TrebuchetMS"/>
              </a:rPr>
              <a:t>CSE</a:t>
            </a:r>
            <a:r>
              <a:rPr dirty="0" sz="1800">
                <a:solidFill>
                  <a:srgbClr val="80808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808080"/>
                </a:solidFill>
                <a:latin typeface="PVJQHU+TrebuchetMS"/>
                <a:cs typeface="PVJQHU+TrebuchetMS"/>
              </a:rPr>
              <a:t>(AI/ML)</a:t>
            </a:r>
          </a:p>
          <a:p>
            <a:pPr marL="0" marR="0">
              <a:lnSpc>
                <a:spcPts val="2090"/>
              </a:lnSpc>
              <a:spcBef>
                <a:spcPts val="1069"/>
              </a:spcBef>
              <a:spcAft>
                <a:spcPts val="0"/>
              </a:spcAft>
            </a:pPr>
            <a:r>
              <a:rPr dirty="0" sz="1800">
                <a:solidFill>
                  <a:srgbClr val="808080"/>
                </a:solidFill>
                <a:latin typeface="PVJQHU+TrebuchetMS"/>
                <a:cs typeface="PVJQHU+TrebuchetMS"/>
              </a:rPr>
              <a:t>SECTION:</a:t>
            </a:r>
            <a:r>
              <a:rPr dirty="0" sz="1800">
                <a:solidFill>
                  <a:srgbClr val="80808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808080"/>
                </a:solidFill>
                <a:latin typeface="PVJQHU+TrebuchetMS"/>
                <a:cs typeface="PVJQHU+TrebuchetMS"/>
              </a:rPr>
              <a:t>B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015861" y="4216376"/>
            <a:ext cx="2043247" cy="7048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808080"/>
                </a:solidFill>
                <a:latin typeface="PVJQHU+TrebuchetMS"/>
                <a:cs typeface="PVJQHU+TrebuchetMS"/>
              </a:rPr>
              <a:t>SESSION:2025-26</a:t>
            </a:r>
          </a:p>
          <a:p>
            <a:pPr marL="32004" marR="0">
              <a:lnSpc>
                <a:spcPts val="2090"/>
              </a:lnSpc>
              <a:spcBef>
                <a:spcPts val="1069"/>
              </a:spcBef>
              <a:spcAft>
                <a:spcPts val="0"/>
              </a:spcAft>
            </a:pPr>
            <a:r>
              <a:rPr dirty="0" sz="1800">
                <a:solidFill>
                  <a:srgbClr val="808080"/>
                </a:solidFill>
                <a:latin typeface="PVJQHU+TrebuchetMS"/>
                <a:cs typeface="PVJQHU+TrebuchetMS"/>
              </a:rPr>
              <a:t>ERP=RU-</a:t>
            </a:r>
            <a:r>
              <a:rPr dirty="0" sz="1800">
                <a:solidFill>
                  <a:srgbClr val="80808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808080"/>
                </a:solidFill>
                <a:latin typeface="PVJQHU+TrebuchetMS"/>
                <a:cs typeface="PVJQHU+TrebuchetMS"/>
              </a:rPr>
              <a:t>25-11679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09600" y="5019016"/>
            <a:ext cx="507578" cy="30353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808080"/>
                </a:solidFill>
                <a:latin typeface="PVJQHU+TrebuchetMS"/>
                <a:cs typeface="PVJQHU+TrebuchetMS"/>
              </a:rPr>
              <a:t>IBM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68774" y="605619"/>
            <a:ext cx="1486718" cy="64621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788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>
                <a:solidFill>
                  <a:srgbClr val="90c226"/>
                </a:solidFill>
                <a:latin typeface="RUTIIH+SegoeUISymbol"/>
                <a:cs typeface="RUTIIH+SegoeUISymbol"/>
              </a:rPr>
              <a:t>ꢀ</a:t>
            </a:r>
            <a:r>
              <a:rPr dirty="0" sz="3600">
                <a:solidFill>
                  <a:srgbClr val="90c226"/>
                </a:solidFill>
                <a:latin typeface="PVJQHU+TrebuchetMS"/>
                <a:cs typeface="PVJQHU+TrebuchetMS"/>
              </a:rPr>
              <a:t>title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8774" y="2213493"/>
            <a:ext cx="4737463" cy="30353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Student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Marksheet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&amp;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Ranking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System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using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C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8774" y="3127050"/>
            <a:ext cx="3776156" cy="30353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90c226"/>
                </a:solidFill>
                <a:latin typeface="PQTFNA+Wingdings3"/>
                <a:cs typeface="PQTFNA+Wingdings3"/>
              </a:rPr>
              <a:t></a:t>
            </a:r>
            <a:r>
              <a:rPr dirty="0" sz="1500" spc="1006">
                <a:solidFill>
                  <a:srgbClr val="90c226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Developed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using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C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programming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68774" y="3665530"/>
            <a:ext cx="5233709" cy="84201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90c226"/>
                </a:solidFill>
                <a:latin typeface="PQTFNA+Wingdings3"/>
                <a:cs typeface="PQTFNA+Wingdings3"/>
              </a:rPr>
              <a:t></a:t>
            </a:r>
            <a:r>
              <a:rPr dirty="0" sz="1500" spc="1006">
                <a:solidFill>
                  <a:srgbClr val="90c226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Demonstrates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arrays,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loops,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and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logic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building</a:t>
            </a:r>
          </a:p>
          <a:p>
            <a:pPr marL="0" marR="0">
              <a:lnSpc>
                <a:spcPts val="2090"/>
              </a:lnSpc>
              <a:spcBef>
                <a:spcPts val="2149"/>
              </a:spcBef>
              <a:spcAft>
                <a:spcPts val="0"/>
              </a:spcAft>
            </a:pPr>
            <a:r>
              <a:rPr dirty="0" sz="1500">
                <a:solidFill>
                  <a:srgbClr val="90c226"/>
                </a:solidFill>
                <a:latin typeface="PQTFNA+Wingdings3"/>
                <a:cs typeface="PQTFNA+Wingdings3"/>
              </a:rPr>
              <a:t></a:t>
            </a:r>
            <a:r>
              <a:rPr dirty="0" sz="1500" spc="1006">
                <a:solidFill>
                  <a:srgbClr val="90c226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Automates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marksheet,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ranking,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and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toppers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68774" y="669690"/>
            <a:ext cx="6630560" cy="5689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180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>
                <a:solidFill>
                  <a:srgbClr val="90c226"/>
                </a:solidFill>
                <a:latin typeface="SRUVWK+SegoeUIEmoji"/>
                <a:cs typeface="SRUVWK+SegoeUIEmoji"/>
              </a:rPr>
              <a:t>ꢀ</a:t>
            </a:r>
            <a:r>
              <a:rPr dirty="0" sz="3600" spc="183">
                <a:solidFill>
                  <a:srgbClr val="90c226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90c226"/>
                </a:solidFill>
                <a:latin typeface="PVJQHU+TrebuchetMS"/>
                <a:cs typeface="PVJQHU+TrebuchetMS"/>
              </a:rPr>
              <a:t>INTRODUCTION</a:t>
            </a:r>
            <a:r>
              <a:rPr dirty="0" sz="3600">
                <a:solidFill>
                  <a:srgbClr val="90c226"/>
                </a:solidFill>
                <a:latin typeface="PVJQHU+TrebuchetMS"/>
                <a:cs typeface="PVJQHU+TrebuchetMS"/>
              </a:rPr>
              <a:t> </a:t>
            </a:r>
            <a:r>
              <a:rPr dirty="0" sz="3600">
                <a:solidFill>
                  <a:srgbClr val="90c226"/>
                </a:solidFill>
                <a:latin typeface="PVJQHU+TrebuchetMS"/>
                <a:cs typeface="PVJQHU+TrebuchetMS"/>
              </a:rPr>
              <a:t>TO</a:t>
            </a:r>
            <a:r>
              <a:rPr dirty="0" sz="3600">
                <a:solidFill>
                  <a:srgbClr val="90c226"/>
                </a:solidFill>
                <a:latin typeface="PVJQHU+TrebuchetMS"/>
                <a:cs typeface="PVJQHU+TrebuchetMS"/>
              </a:rPr>
              <a:t> </a:t>
            </a:r>
            <a:r>
              <a:rPr dirty="0" sz="3600">
                <a:solidFill>
                  <a:srgbClr val="90c226"/>
                </a:solidFill>
                <a:latin typeface="PVJQHU+TrebuchetMS"/>
                <a:cs typeface="PVJQHU+TrebuchetMS"/>
              </a:rPr>
              <a:t>PROJECT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9341" y="1878529"/>
            <a:ext cx="1922253" cy="30353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Project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Overview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19341" y="2279849"/>
            <a:ext cx="7237951" cy="30353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90c226"/>
                </a:solidFill>
                <a:latin typeface="PQTFNA+Wingdings3"/>
                <a:cs typeface="PQTFNA+Wingdings3"/>
              </a:rPr>
              <a:t></a:t>
            </a:r>
            <a:r>
              <a:rPr dirty="0" sz="1500" spc="1006">
                <a:solidFill>
                  <a:srgbClr val="90c226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Manual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marksheet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preparation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is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time-consuming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and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error-prone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76541" y="3081691"/>
            <a:ext cx="2626652" cy="64488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90c226"/>
                </a:solidFill>
                <a:latin typeface="PQTFNA+Wingdings3"/>
                <a:cs typeface="PQTFNA+Wingdings3"/>
              </a:rPr>
              <a:t></a:t>
            </a:r>
            <a:r>
              <a:rPr dirty="0" sz="1350" spc="725">
                <a:solidFill>
                  <a:srgbClr val="90c226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404040"/>
                </a:solidFill>
                <a:latin typeface="PVJQHU+TrebuchetMS"/>
                <a:cs typeface="PVJQHU+TrebuchetMS"/>
              </a:rPr>
              <a:t>This</a:t>
            </a:r>
            <a:r>
              <a:rPr dirty="0" sz="16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600">
                <a:solidFill>
                  <a:srgbClr val="404040"/>
                </a:solidFill>
                <a:latin typeface="PVJQHU+TrebuchetMS"/>
                <a:cs typeface="PVJQHU+TrebuchetMS"/>
              </a:rPr>
              <a:t>project</a:t>
            </a:r>
            <a:r>
              <a:rPr dirty="0" sz="16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600">
                <a:solidFill>
                  <a:srgbClr val="404040"/>
                </a:solidFill>
                <a:latin typeface="PVJQHU+TrebuchetMS"/>
                <a:cs typeface="PVJQHU+TrebuchetMS"/>
              </a:rPr>
              <a:t>automates:</a:t>
            </a:r>
          </a:p>
          <a:p>
            <a:pPr marL="0" marR="0">
              <a:lnSpc>
                <a:spcPts val="1857"/>
              </a:lnSpc>
              <a:spcBef>
                <a:spcPts val="1012"/>
              </a:spcBef>
              <a:spcAft>
                <a:spcPts val="0"/>
              </a:spcAft>
            </a:pPr>
            <a:r>
              <a:rPr dirty="0" sz="1350">
                <a:solidFill>
                  <a:srgbClr val="90c226"/>
                </a:solidFill>
                <a:latin typeface="PQTFNA+Wingdings3"/>
                <a:cs typeface="PQTFNA+Wingdings3"/>
              </a:rPr>
              <a:t></a:t>
            </a:r>
            <a:r>
              <a:rPr dirty="0" sz="1350" spc="725">
                <a:solidFill>
                  <a:srgbClr val="90c226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404040"/>
                </a:solidFill>
                <a:latin typeface="PVJQHU+TrebuchetMS"/>
                <a:cs typeface="PVJQHU+TrebuchetMS"/>
              </a:rPr>
              <a:t>Marksheet</a:t>
            </a:r>
            <a:r>
              <a:rPr dirty="0" sz="16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600">
                <a:solidFill>
                  <a:srgbClr val="404040"/>
                </a:solidFill>
                <a:latin typeface="PVJQHU+TrebuchetMS"/>
                <a:cs typeface="PVJQHU+TrebuchetMS"/>
              </a:rPr>
              <a:t>generation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76541" y="3823372"/>
            <a:ext cx="2527327" cy="64488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90c226"/>
                </a:solidFill>
                <a:latin typeface="PQTFNA+Wingdings3"/>
                <a:cs typeface="PQTFNA+Wingdings3"/>
              </a:rPr>
              <a:t></a:t>
            </a:r>
            <a:r>
              <a:rPr dirty="0" sz="1350" spc="725">
                <a:solidFill>
                  <a:srgbClr val="90c226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404040"/>
                </a:solidFill>
                <a:latin typeface="PVJQHU+TrebuchetMS"/>
                <a:cs typeface="PVJQHU+TrebuchetMS"/>
              </a:rPr>
              <a:t>Percentage</a:t>
            </a:r>
            <a:r>
              <a:rPr dirty="0" sz="16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600">
                <a:solidFill>
                  <a:srgbClr val="404040"/>
                </a:solidFill>
                <a:latin typeface="PVJQHU+TrebuchetMS"/>
                <a:cs typeface="PVJQHU+TrebuchetMS"/>
              </a:rPr>
              <a:t>calculation</a:t>
            </a:r>
          </a:p>
          <a:p>
            <a:pPr marL="0" marR="0">
              <a:lnSpc>
                <a:spcPts val="1857"/>
              </a:lnSpc>
              <a:spcBef>
                <a:spcPts val="1012"/>
              </a:spcBef>
              <a:spcAft>
                <a:spcPts val="0"/>
              </a:spcAft>
            </a:pPr>
            <a:r>
              <a:rPr dirty="0" sz="1350">
                <a:solidFill>
                  <a:srgbClr val="90c226"/>
                </a:solidFill>
                <a:latin typeface="PQTFNA+Wingdings3"/>
                <a:cs typeface="PQTFNA+Wingdings3"/>
              </a:rPr>
              <a:t></a:t>
            </a:r>
            <a:r>
              <a:rPr dirty="0" sz="1350" spc="725">
                <a:solidFill>
                  <a:srgbClr val="90c226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404040"/>
                </a:solidFill>
                <a:latin typeface="PVJQHU+TrebuchetMS"/>
                <a:cs typeface="PVJQHU+TrebuchetMS"/>
              </a:rPr>
              <a:t>Rank</a:t>
            </a:r>
            <a:r>
              <a:rPr dirty="0" sz="16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600">
                <a:solidFill>
                  <a:srgbClr val="404040"/>
                </a:solidFill>
                <a:latin typeface="PVJQHU+TrebuchetMS"/>
                <a:cs typeface="PVJQHU+TrebuchetMS"/>
              </a:rPr>
              <a:t>list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76541" y="4565051"/>
            <a:ext cx="1874730" cy="27404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90c226"/>
                </a:solidFill>
                <a:latin typeface="PQTFNA+Wingdings3"/>
                <a:cs typeface="PQTFNA+Wingdings3"/>
              </a:rPr>
              <a:t></a:t>
            </a:r>
            <a:r>
              <a:rPr dirty="0" sz="1350" spc="725">
                <a:solidFill>
                  <a:srgbClr val="90c226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404040"/>
                </a:solidFill>
                <a:latin typeface="PVJQHU+TrebuchetMS"/>
                <a:cs typeface="PVJQHU+TrebuchetMS"/>
              </a:rPr>
              <a:t>Subject</a:t>
            </a:r>
            <a:r>
              <a:rPr dirty="0" sz="16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600">
                <a:solidFill>
                  <a:srgbClr val="404040"/>
                </a:solidFill>
                <a:latin typeface="PVJQHU+TrebuchetMS"/>
                <a:cs typeface="PVJQHU+TrebuchetMS"/>
              </a:rPr>
              <a:t>toppers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19341" y="4936690"/>
            <a:ext cx="5039276" cy="30353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90c226"/>
                </a:solidFill>
                <a:latin typeface="PQTFNA+Wingdings3"/>
                <a:cs typeface="PQTFNA+Wingdings3"/>
              </a:rPr>
              <a:t></a:t>
            </a:r>
            <a:r>
              <a:rPr dirty="0" sz="1500" spc="1006">
                <a:solidFill>
                  <a:srgbClr val="90c226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Implemented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using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C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programming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language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68774" y="605619"/>
            <a:ext cx="6975781" cy="64621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788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>
                <a:solidFill>
                  <a:srgbClr val="90c226"/>
                </a:solidFill>
                <a:latin typeface="RUTIIH+SegoeUISymbol"/>
                <a:cs typeface="RUTIIH+SegoeUISymbol"/>
              </a:rPr>
              <a:t>ꢁ</a:t>
            </a:r>
            <a:r>
              <a:rPr dirty="0" sz="3600" spc="184">
                <a:solidFill>
                  <a:srgbClr val="90c226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90c226"/>
                </a:solidFill>
                <a:latin typeface="PVJQHU+TrebuchetMS"/>
                <a:cs typeface="PVJQHU+TrebuchetMS"/>
              </a:rPr>
              <a:t>TOOLS</a:t>
            </a:r>
            <a:r>
              <a:rPr dirty="0" sz="3600">
                <a:solidFill>
                  <a:srgbClr val="90c226"/>
                </a:solidFill>
                <a:latin typeface="PVJQHU+TrebuchetMS"/>
                <a:cs typeface="PVJQHU+TrebuchetMS"/>
              </a:rPr>
              <a:t> </a:t>
            </a:r>
            <a:r>
              <a:rPr dirty="0" sz="3600">
                <a:solidFill>
                  <a:srgbClr val="90c226"/>
                </a:solidFill>
                <a:latin typeface="PVJQHU+TrebuchetMS"/>
                <a:cs typeface="PVJQHU+TrebuchetMS"/>
              </a:rPr>
              <a:t>&amp;</a:t>
            </a:r>
            <a:r>
              <a:rPr dirty="0" sz="3600">
                <a:solidFill>
                  <a:srgbClr val="90c226"/>
                </a:solidFill>
                <a:latin typeface="PVJQHU+TrebuchetMS"/>
                <a:cs typeface="PVJQHU+TrebuchetMS"/>
              </a:rPr>
              <a:t> </a:t>
            </a:r>
            <a:r>
              <a:rPr dirty="0" sz="3600">
                <a:solidFill>
                  <a:srgbClr val="90c226"/>
                </a:solidFill>
                <a:latin typeface="PVJQHU+TrebuchetMS"/>
                <a:cs typeface="PVJQHU+TrebuchetMS"/>
              </a:rPr>
              <a:t>TECHNOLOGIES</a:t>
            </a:r>
            <a:r>
              <a:rPr dirty="0" sz="3600">
                <a:solidFill>
                  <a:srgbClr val="90c226"/>
                </a:solidFill>
                <a:latin typeface="PVJQHU+TrebuchetMS"/>
                <a:cs typeface="PVJQHU+TrebuchetMS"/>
              </a:rPr>
              <a:t> </a:t>
            </a:r>
            <a:r>
              <a:rPr dirty="0" sz="3600">
                <a:solidFill>
                  <a:srgbClr val="90c226"/>
                </a:solidFill>
                <a:latin typeface="PVJQHU+TrebuchetMS"/>
                <a:cs typeface="PVJQHU+TrebuchetMS"/>
              </a:rPr>
              <a:t>USED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30536" y="2166594"/>
            <a:ext cx="5144203" cy="41760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94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RUTIIH+SegoeUISymbol"/>
                <a:cs typeface="RUTIIH+SegoeUISymbol"/>
              </a:rPr>
              <a:t>ꢂ</a:t>
            </a:r>
            <a:r>
              <a:rPr dirty="0" sz="1800" spc="9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Visual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Studio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Code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(VS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Code)</a:t>
            </a:r>
          </a:p>
          <a:p>
            <a:pPr marL="0" marR="0">
              <a:lnSpc>
                <a:spcPts val="2090"/>
              </a:lnSpc>
              <a:spcBef>
                <a:spcPts val="18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Used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as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the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source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code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editor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for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writing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and</a:t>
            </a:r>
          </a:p>
          <a:p>
            <a:pPr marL="0" marR="0">
              <a:lnSpc>
                <a:spcPts val="2090"/>
              </a:lnSpc>
              <a:spcBef>
                <a:spcPts val="69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managing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the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C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program.</a:t>
            </a:r>
          </a:p>
          <a:p>
            <a:pPr marL="0" marR="0">
              <a:lnSpc>
                <a:spcPts val="2090"/>
              </a:lnSpc>
              <a:spcBef>
                <a:spcPts val="19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Provides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syntax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highlighting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and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an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easy-to-use</a:t>
            </a:r>
          </a:p>
          <a:p>
            <a:pPr marL="0" marR="0">
              <a:lnSpc>
                <a:spcPts val="2090"/>
              </a:lnSpc>
              <a:spcBef>
                <a:spcPts val="69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interface.</a:t>
            </a:r>
          </a:p>
          <a:p>
            <a:pPr marL="0" marR="0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RUTIIH+SegoeUISymbol"/>
                <a:cs typeface="RUTIIH+SegoeUISymbol"/>
              </a:rPr>
              <a:t>⚙</a:t>
            </a:r>
            <a:r>
              <a:rPr dirty="0" sz="1800" spc="8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GCC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Compiler</a:t>
            </a:r>
          </a:p>
          <a:p>
            <a:pPr marL="0" marR="0">
              <a:lnSpc>
                <a:spcPts val="2090"/>
              </a:lnSpc>
              <a:spcBef>
                <a:spcPts val="68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Used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to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compile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and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execute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the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C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program.</a:t>
            </a:r>
          </a:p>
          <a:p>
            <a:pPr marL="0" marR="0">
              <a:lnSpc>
                <a:spcPts val="2090"/>
              </a:lnSpc>
              <a:spcBef>
                <a:spcPts val="19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Converts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C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source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code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into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executable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machine</a:t>
            </a:r>
          </a:p>
          <a:p>
            <a:pPr marL="0" marR="0">
              <a:lnSpc>
                <a:spcPts val="2090"/>
              </a:lnSpc>
              <a:spcBef>
                <a:spcPts val="69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code.</a:t>
            </a:r>
          </a:p>
          <a:p>
            <a:pPr marL="0" marR="0">
              <a:lnSpc>
                <a:spcPts val="2090"/>
              </a:lnSpc>
              <a:spcBef>
                <a:spcPts val="19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NOFUMC+CambriaMath"/>
                <a:cs typeface="NOFUMC+CambriaMath"/>
              </a:rPr>
              <a:t>⌨</a:t>
            </a:r>
            <a:r>
              <a:rPr dirty="0" sz="1800" spc="8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C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Programming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Language</a:t>
            </a:r>
          </a:p>
          <a:p>
            <a:pPr marL="0" marR="0">
              <a:lnSpc>
                <a:spcPts val="2090"/>
              </a:lnSpc>
              <a:spcBef>
                <a:spcPts val="69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Used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to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implement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program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logic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using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loops,</a:t>
            </a:r>
          </a:p>
          <a:p>
            <a:pPr marL="0" marR="0">
              <a:lnSpc>
                <a:spcPts val="2090"/>
              </a:lnSpc>
              <a:spcBef>
                <a:spcPts val="69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conditions,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and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variables.</a:t>
            </a:r>
          </a:p>
          <a:p>
            <a:pPr marL="0" marR="0">
              <a:lnSpc>
                <a:spcPts val="2159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RUTIIH+SegoeUISymbol"/>
                <a:cs typeface="RUTIIH+SegoeUISymbol"/>
              </a:rPr>
              <a:t>ꢃ</a:t>
            </a:r>
            <a:r>
              <a:rPr dirty="0" sz="1800" spc="9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Windows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Operating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System</a:t>
            </a:r>
          </a:p>
          <a:p>
            <a:pPr marL="0" marR="0">
              <a:lnSpc>
                <a:spcPts val="2090"/>
              </a:lnSpc>
              <a:spcBef>
                <a:spcPts val="18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Provides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the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environment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to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run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VS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Code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and</a:t>
            </a:r>
          </a:p>
          <a:p>
            <a:pPr marL="0" marR="0">
              <a:lnSpc>
                <a:spcPts val="2090"/>
              </a:lnSpc>
              <a:spcBef>
                <a:spcPts val="69"/>
              </a:spcBef>
              <a:spcAft>
                <a:spcPts val="0"/>
              </a:spcAft>
            </a:pP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GCC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000000"/>
                </a:solidFill>
                <a:latin typeface="PVJQHU+TrebuchetMS"/>
                <a:cs typeface="PVJQHU+TrebuchetMS"/>
              </a:rPr>
              <a:t>compiler.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68774" y="605619"/>
            <a:ext cx="4734467" cy="64621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788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>
                <a:solidFill>
                  <a:srgbClr val="90c226"/>
                </a:solidFill>
                <a:latin typeface="RUTIIH+SegoeUISymbol"/>
                <a:cs typeface="RUTIIH+SegoeUISymbol"/>
              </a:rPr>
              <a:t>⚙</a:t>
            </a:r>
            <a:r>
              <a:rPr dirty="0" sz="3600" spc="187">
                <a:solidFill>
                  <a:srgbClr val="90c226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90c226"/>
                </a:solidFill>
                <a:latin typeface="PVJQHU+TrebuchetMS"/>
                <a:cs typeface="PVJQHU+TrebuchetMS"/>
              </a:rPr>
              <a:t>PROJECT</a:t>
            </a:r>
            <a:r>
              <a:rPr dirty="0" sz="3600" spc="1081">
                <a:solidFill>
                  <a:srgbClr val="90c226"/>
                </a:solidFill>
                <a:latin typeface="PVJQHU+TrebuchetMS"/>
                <a:cs typeface="PVJQHU+TrebuchetMS"/>
              </a:rPr>
              <a:t> </a:t>
            </a:r>
            <a:r>
              <a:rPr dirty="0" sz="3600">
                <a:solidFill>
                  <a:srgbClr val="90c226"/>
                </a:solidFill>
                <a:latin typeface="PVJQHU+TrebuchetMS"/>
                <a:cs typeface="PVJQHU+TrebuchetMS"/>
              </a:rPr>
              <a:t>WORKING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1123" y="1527743"/>
            <a:ext cx="1676976" cy="30353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1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.User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enters: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8323" y="1928266"/>
            <a:ext cx="2227485" cy="27404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90c226"/>
                </a:solidFill>
                <a:latin typeface="PQTFNA+Wingdings3"/>
                <a:cs typeface="PQTFNA+Wingdings3"/>
              </a:rPr>
              <a:t></a:t>
            </a:r>
            <a:r>
              <a:rPr dirty="0" sz="1350" spc="725">
                <a:solidFill>
                  <a:srgbClr val="90c226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404040"/>
                </a:solidFill>
                <a:latin typeface="PVJQHU+TrebuchetMS"/>
                <a:cs typeface="PVJQHU+TrebuchetMS"/>
              </a:rPr>
              <a:t>Number</a:t>
            </a:r>
            <a:r>
              <a:rPr dirty="0" sz="16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600">
                <a:solidFill>
                  <a:srgbClr val="404040"/>
                </a:solidFill>
                <a:latin typeface="PVJQHU+TrebuchetMS"/>
                <a:cs typeface="PVJQHU+TrebuchetMS"/>
              </a:rPr>
              <a:t>of</a:t>
            </a:r>
            <a:r>
              <a:rPr dirty="0" sz="16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600">
                <a:solidFill>
                  <a:srgbClr val="404040"/>
                </a:solidFill>
                <a:latin typeface="PVJQHU+TrebuchetMS"/>
                <a:cs typeface="PVJQHU+TrebuchetMS"/>
              </a:rPr>
              <a:t>students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18323" y="2299105"/>
            <a:ext cx="2211026" cy="27404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90c226"/>
                </a:solidFill>
                <a:latin typeface="PQTFNA+Wingdings3"/>
                <a:cs typeface="PQTFNA+Wingdings3"/>
              </a:rPr>
              <a:t></a:t>
            </a:r>
            <a:r>
              <a:rPr dirty="0" sz="1350" spc="725">
                <a:solidFill>
                  <a:srgbClr val="90c226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404040"/>
                </a:solidFill>
                <a:latin typeface="PVJQHU+TrebuchetMS"/>
                <a:cs typeface="PVJQHU+TrebuchetMS"/>
              </a:rPr>
              <a:t>Number</a:t>
            </a:r>
            <a:r>
              <a:rPr dirty="0" sz="16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600">
                <a:solidFill>
                  <a:srgbClr val="404040"/>
                </a:solidFill>
                <a:latin typeface="PVJQHU+TrebuchetMS"/>
                <a:cs typeface="PVJQHU+TrebuchetMS"/>
              </a:rPr>
              <a:t>of</a:t>
            </a:r>
            <a:r>
              <a:rPr dirty="0" sz="16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600">
                <a:solidFill>
                  <a:srgbClr val="404040"/>
                </a:solidFill>
                <a:latin typeface="PVJQHU+TrebuchetMS"/>
                <a:cs typeface="PVJQHU+TrebuchetMS"/>
              </a:rPr>
              <a:t>subjects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61123" y="2670744"/>
            <a:ext cx="4038939" cy="30353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2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.Marks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are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entered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for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each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student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61123" y="3072064"/>
            <a:ext cx="2462217" cy="6745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3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.Program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calculates:</a:t>
            </a:r>
          </a:p>
          <a:p>
            <a:pPr marL="457200" marR="0">
              <a:lnSpc>
                <a:spcPts val="1857"/>
              </a:lnSpc>
              <a:spcBef>
                <a:spcPts val="1013"/>
              </a:spcBef>
              <a:spcAft>
                <a:spcPts val="0"/>
              </a:spcAft>
            </a:pPr>
            <a:r>
              <a:rPr dirty="0" sz="1350">
                <a:solidFill>
                  <a:srgbClr val="90c226"/>
                </a:solidFill>
                <a:latin typeface="PQTFNA+Wingdings3"/>
                <a:cs typeface="PQTFNA+Wingdings3"/>
              </a:rPr>
              <a:t></a:t>
            </a:r>
            <a:r>
              <a:rPr dirty="0" sz="1350" spc="725">
                <a:solidFill>
                  <a:srgbClr val="90c226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404040"/>
                </a:solidFill>
                <a:latin typeface="PVJQHU+TrebuchetMS"/>
                <a:cs typeface="PVJQHU+TrebuchetMS"/>
              </a:rPr>
              <a:t>Total</a:t>
            </a:r>
            <a:r>
              <a:rPr dirty="0" sz="16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600">
                <a:solidFill>
                  <a:srgbClr val="404040"/>
                </a:solidFill>
                <a:latin typeface="PVJQHU+TrebuchetMS"/>
                <a:cs typeface="PVJQHU+TrebuchetMS"/>
              </a:rPr>
              <a:t>marks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18323" y="3843425"/>
            <a:ext cx="1462970" cy="27404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90c226"/>
                </a:solidFill>
                <a:latin typeface="PQTFNA+Wingdings3"/>
                <a:cs typeface="PQTFNA+Wingdings3"/>
              </a:rPr>
              <a:t></a:t>
            </a:r>
            <a:r>
              <a:rPr dirty="0" sz="1350" spc="725">
                <a:solidFill>
                  <a:srgbClr val="90c226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404040"/>
                </a:solidFill>
                <a:latin typeface="PVJQHU+TrebuchetMS"/>
                <a:cs typeface="PVJQHU+TrebuchetMS"/>
              </a:rPr>
              <a:t>Percentage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8323" y="4214266"/>
            <a:ext cx="876532" cy="27404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90c226"/>
                </a:solidFill>
                <a:latin typeface="PQTFNA+Wingdings3"/>
                <a:cs typeface="PQTFNA+Wingdings3"/>
              </a:rPr>
              <a:t></a:t>
            </a:r>
            <a:r>
              <a:rPr dirty="0" sz="1350" spc="725">
                <a:solidFill>
                  <a:srgbClr val="90c226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404040"/>
                </a:solidFill>
                <a:latin typeface="PVJQHU+TrebuchetMS"/>
                <a:cs typeface="PVJQHU+TrebuchetMS"/>
              </a:rPr>
              <a:t>Rank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61123" y="4585105"/>
            <a:ext cx="4010524" cy="67517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457200" marR="0">
              <a:lnSpc>
                <a:spcPts val="18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90c226"/>
                </a:solidFill>
                <a:latin typeface="PQTFNA+Wingdings3"/>
                <a:cs typeface="PQTFNA+Wingdings3"/>
              </a:rPr>
              <a:t></a:t>
            </a:r>
            <a:r>
              <a:rPr dirty="0" sz="1350" spc="725">
                <a:solidFill>
                  <a:srgbClr val="90c226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404040"/>
                </a:solidFill>
                <a:latin typeface="PVJQHU+TrebuchetMS"/>
                <a:cs typeface="PVJQHU+TrebuchetMS"/>
              </a:rPr>
              <a:t>Subject</a:t>
            </a:r>
            <a:r>
              <a:rPr dirty="0" sz="16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600">
                <a:solidFill>
                  <a:srgbClr val="404040"/>
                </a:solidFill>
                <a:latin typeface="PVJQHU+TrebuchetMS"/>
                <a:cs typeface="PVJQHU+TrebuchetMS"/>
              </a:rPr>
              <a:t>toppers</a:t>
            </a:r>
          </a:p>
          <a:p>
            <a:pPr marL="0" marR="0">
              <a:lnSpc>
                <a:spcPts val="2090"/>
              </a:lnSpc>
              <a:spcBef>
                <a:spcPts val="1018"/>
              </a:spcBef>
              <a:spcAft>
                <a:spcPts val="0"/>
              </a:spcAft>
            </a:pPr>
            <a:r>
              <a:rPr dirty="0" sz="1500">
                <a:solidFill>
                  <a:srgbClr val="90c226"/>
                </a:solidFill>
                <a:latin typeface="PQTFNA+Wingdings3"/>
                <a:cs typeface="PQTFNA+Wingdings3"/>
              </a:rPr>
              <a:t></a:t>
            </a:r>
            <a:r>
              <a:rPr dirty="0" sz="1500" spc="1006">
                <a:solidFill>
                  <a:srgbClr val="90c226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Final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output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displayed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on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console.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68774" y="605619"/>
            <a:ext cx="3378661" cy="64621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788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>
                <a:solidFill>
                  <a:srgbClr val="90c226"/>
                </a:solidFill>
                <a:latin typeface="RUTIIH+SegoeUISymbol"/>
                <a:cs typeface="RUTIIH+SegoeUISymbol"/>
              </a:rPr>
              <a:t>ꢄ</a:t>
            </a:r>
            <a:r>
              <a:rPr dirty="0" sz="3600" spc="184">
                <a:solidFill>
                  <a:srgbClr val="90c226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90c226"/>
                </a:solidFill>
                <a:latin typeface="PVJQHU+TrebuchetMS"/>
                <a:cs typeface="PVJQHU+TrebuchetMS"/>
              </a:rPr>
              <a:t>SCREENSHOT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68774" y="669690"/>
            <a:ext cx="5850110" cy="5689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180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>
                <a:solidFill>
                  <a:srgbClr val="90c226"/>
                </a:solidFill>
                <a:latin typeface="PVJQHU+TrebuchetMS"/>
                <a:cs typeface="PVJQHU+TrebuchetMS"/>
              </a:rPr>
              <a:t>CORE</a:t>
            </a:r>
            <a:r>
              <a:rPr dirty="0" sz="3600" spc="1081">
                <a:solidFill>
                  <a:srgbClr val="90c226"/>
                </a:solidFill>
                <a:latin typeface="PVJQHU+TrebuchetMS"/>
                <a:cs typeface="PVJQHU+TrebuchetMS"/>
              </a:rPr>
              <a:t> </a:t>
            </a:r>
            <a:r>
              <a:rPr dirty="0" sz="3600">
                <a:solidFill>
                  <a:srgbClr val="90c226"/>
                </a:solidFill>
                <a:latin typeface="PVJQHU+TrebuchetMS"/>
                <a:cs typeface="PVJQHU+TrebuchetMS"/>
              </a:rPr>
              <a:t>LOGIC</a:t>
            </a:r>
            <a:r>
              <a:rPr dirty="0" sz="3600" spc="1084">
                <a:solidFill>
                  <a:srgbClr val="90c226"/>
                </a:solidFill>
                <a:latin typeface="PVJQHU+TrebuchetMS"/>
                <a:cs typeface="PVJQHU+TrebuchetMS"/>
              </a:rPr>
              <a:t> </a:t>
            </a:r>
            <a:r>
              <a:rPr dirty="0" sz="3600">
                <a:solidFill>
                  <a:srgbClr val="90c226"/>
                </a:solidFill>
                <a:latin typeface="PVJQHU+TrebuchetMS"/>
                <a:cs typeface="PVJQHU+TrebuchetMS"/>
              </a:rPr>
              <a:t>EXPLANATION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8774" y="2213493"/>
            <a:ext cx="2426085" cy="30353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90c226"/>
                </a:solidFill>
                <a:latin typeface="PQTFNA+Wingdings3"/>
                <a:cs typeface="PQTFNA+Wingdings3"/>
              </a:rPr>
              <a:t></a:t>
            </a:r>
            <a:r>
              <a:rPr dirty="0" sz="1500" spc="1006">
                <a:solidFill>
                  <a:srgbClr val="90c226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Key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Concepts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Used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8774" y="2614814"/>
            <a:ext cx="5158512" cy="19088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90c226"/>
                </a:solidFill>
                <a:latin typeface="PQTFNA+Wingdings3"/>
                <a:cs typeface="PQTFNA+Wingdings3"/>
              </a:rPr>
              <a:t></a:t>
            </a:r>
            <a:r>
              <a:rPr dirty="0" sz="1500" spc="1006">
                <a:solidFill>
                  <a:srgbClr val="90c226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int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marks[students][subjects]</a:t>
            </a:r>
            <a:r>
              <a:rPr dirty="0" sz="1800" spc="31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JSNHG+ArialMT"/>
                <a:cs typeface="PJSNHG+ArialMT"/>
              </a:rPr>
              <a:t>→</a:t>
            </a:r>
            <a:r>
              <a:rPr dirty="0" sz="1800" spc="92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stores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marks</a:t>
            </a:r>
          </a:p>
          <a:p>
            <a:pPr marL="0" marR="0">
              <a:lnSpc>
                <a:spcPts val="2090"/>
              </a:lnSpc>
              <a:spcBef>
                <a:spcPts val="1069"/>
              </a:spcBef>
              <a:spcAft>
                <a:spcPts val="0"/>
              </a:spcAft>
            </a:pPr>
            <a:r>
              <a:rPr dirty="0" sz="1500">
                <a:solidFill>
                  <a:srgbClr val="90c226"/>
                </a:solidFill>
                <a:latin typeface="PQTFNA+Wingdings3"/>
                <a:cs typeface="PQTFNA+Wingdings3"/>
              </a:rPr>
              <a:t></a:t>
            </a:r>
            <a:r>
              <a:rPr dirty="0" sz="1500" spc="1006">
                <a:solidFill>
                  <a:srgbClr val="90c226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total[]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JSNHG+ArialMT"/>
                <a:cs typeface="PJSNHG+ArialMT"/>
              </a:rPr>
              <a:t>→</a:t>
            </a:r>
            <a:r>
              <a:rPr dirty="0" sz="1800" spc="92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total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marks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per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student</a:t>
            </a:r>
          </a:p>
          <a:p>
            <a:pPr marL="0" marR="0">
              <a:lnSpc>
                <a:spcPts val="2090"/>
              </a:lnSpc>
              <a:spcBef>
                <a:spcPts val="1019"/>
              </a:spcBef>
              <a:spcAft>
                <a:spcPts val="0"/>
              </a:spcAft>
            </a:pPr>
            <a:r>
              <a:rPr dirty="0" sz="1500">
                <a:solidFill>
                  <a:srgbClr val="90c226"/>
                </a:solidFill>
                <a:latin typeface="PQTFNA+Wingdings3"/>
                <a:cs typeface="PQTFNA+Wingdings3"/>
              </a:rPr>
              <a:t></a:t>
            </a:r>
            <a:r>
              <a:rPr dirty="0" sz="1500" spc="1006">
                <a:solidFill>
                  <a:srgbClr val="90c226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percent[]</a:t>
            </a:r>
            <a:r>
              <a:rPr dirty="0" sz="1800" spc="11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JSNHG+ArialMT"/>
                <a:cs typeface="PJSNHG+ArialMT"/>
              </a:rPr>
              <a:t>→</a:t>
            </a:r>
            <a:r>
              <a:rPr dirty="0" sz="1800" spc="92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percentage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calculation</a:t>
            </a:r>
          </a:p>
          <a:p>
            <a:pPr marL="0" marR="0">
              <a:lnSpc>
                <a:spcPts val="2090"/>
              </a:lnSpc>
              <a:spcBef>
                <a:spcPts val="1069"/>
              </a:spcBef>
              <a:spcAft>
                <a:spcPts val="0"/>
              </a:spcAft>
            </a:pPr>
            <a:r>
              <a:rPr dirty="0" sz="1500">
                <a:solidFill>
                  <a:srgbClr val="90c226"/>
                </a:solidFill>
                <a:latin typeface="PQTFNA+Wingdings3"/>
                <a:cs typeface="PQTFNA+Wingdings3"/>
              </a:rPr>
              <a:t></a:t>
            </a:r>
            <a:r>
              <a:rPr dirty="0" sz="1500" spc="1006">
                <a:solidFill>
                  <a:srgbClr val="90c226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Nested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loops</a:t>
            </a:r>
            <a:r>
              <a:rPr dirty="0" sz="1800" spc="-14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JSNHG+ArialMT"/>
                <a:cs typeface="PJSNHG+ArialMT"/>
              </a:rPr>
              <a:t>→</a:t>
            </a:r>
            <a:r>
              <a:rPr dirty="0" sz="1800" spc="92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input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and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processing</a:t>
            </a:r>
          </a:p>
          <a:p>
            <a:pPr marL="0" marR="0">
              <a:lnSpc>
                <a:spcPts val="2090"/>
              </a:lnSpc>
              <a:spcBef>
                <a:spcPts val="1019"/>
              </a:spcBef>
              <a:spcAft>
                <a:spcPts val="0"/>
              </a:spcAft>
            </a:pPr>
            <a:r>
              <a:rPr dirty="0" sz="1500">
                <a:solidFill>
                  <a:srgbClr val="90c226"/>
                </a:solidFill>
                <a:latin typeface="PQTFNA+Wingdings3"/>
                <a:cs typeface="PQTFNA+Wingdings3"/>
              </a:rPr>
              <a:t></a:t>
            </a:r>
            <a:r>
              <a:rPr dirty="0" sz="1500" spc="1006">
                <a:solidFill>
                  <a:srgbClr val="90c226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Rank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logic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JSNHG+ArialMT"/>
                <a:cs typeface="PJSNHG+ArialMT"/>
              </a:rPr>
              <a:t>→</a:t>
            </a:r>
            <a:r>
              <a:rPr dirty="0" sz="1800" spc="92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compares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totals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68774" y="4621414"/>
            <a:ext cx="4908843" cy="30353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90c226"/>
                </a:solidFill>
                <a:latin typeface="PQTFNA+Wingdings3"/>
                <a:cs typeface="PQTFNA+Wingdings3"/>
              </a:rPr>
              <a:t></a:t>
            </a:r>
            <a:r>
              <a:rPr dirty="0" sz="1500" spc="1006">
                <a:solidFill>
                  <a:srgbClr val="90c226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Subject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topper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logic</a:t>
            </a:r>
            <a:r>
              <a:rPr dirty="0" sz="1800" spc="-17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JSNHG+ArialMT"/>
                <a:cs typeface="PJSNHG+ArialMT"/>
              </a:rPr>
              <a:t>→</a:t>
            </a:r>
            <a:r>
              <a:rPr dirty="0" sz="1800" spc="92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finds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highest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marks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1440" y="-3979"/>
            <a:ext cx="2171159" cy="64621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788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>
                <a:solidFill>
                  <a:srgbClr val="90c226"/>
                </a:solidFill>
                <a:latin typeface="RUTIIH+SegoeUISymbol"/>
                <a:cs typeface="RUTIIH+SegoeUISymbol"/>
              </a:rPr>
              <a:t>ꢅ</a:t>
            </a:r>
            <a:r>
              <a:rPr dirty="0" sz="3600" spc="184">
                <a:solidFill>
                  <a:srgbClr val="90c226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90c226"/>
                </a:solidFill>
                <a:latin typeface="PVJQHU+TrebuchetMS"/>
                <a:cs typeface="PVJQHU+TrebuchetMS"/>
              </a:rPr>
              <a:t>Output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68774" y="605619"/>
            <a:ext cx="3068780" cy="64621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788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>
                <a:solidFill>
                  <a:srgbClr val="90c226"/>
                </a:solidFill>
                <a:latin typeface="RUTIIH+SegoeUISymbol"/>
                <a:cs typeface="RUTIIH+SegoeUISymbol"/>
              </a:rPr>
              <a:t>✅</a:t>
            </a:r>
            <a:r>
              <a:rPr dirty="0" sz="3600" spc="184">
                <a:solidFill>
                  <a:srgbClr val="90c226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90c226"/>
                </a:solidFill>
                <a:latin typeface="PVJQHU+TrebuchetMS"/>
                <a:cs typeface="PVJQHU+TrebuchetMS"/>
              </a:rPr>
              <a:t>Advantages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8774" y="2725730"/>
            <a:ext cx="3634464" cy="84201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90c226"/>
                </a:solidFill>
                <a:latin typeface="PQTFNA+Wingdings3"/>
                <a:cs typeface="PQTFNA+Wingdings3"/>
              </a:rPr>
              <a:t></a:t>
            </a:r>
            <a:r>
              <a:rPr dirty="0" sz="1500" spc="1006">
                <a:solidFill>
                  <a:srgbClr val="90c226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Simple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and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easy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to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understand</a:t>
            </a:r>
          </a:p>
          <a:p>
            <a:pPr marL="0" marR="0">
              <a:lnSpc>
                <a:spcPts val="2090"/>
              </a:lnSpc>
              <a:spcBef>
                <a:spcPts val="2149"/>
              </a:spcBef>
              <a:spcAft>
                <a:spcPts val="0"/>
              </a:spcAft>
            </a:pPr>
            <a:r>
              <a:rPr dirty="0" sz="1500">
                <a:solidFill>
                  <a:srgbClr val="90c226"/>
                </a:solidFill>
                <a:latin typeface="PQTFNA+Wingdings3"/>
                <a:cs typeface="PQTFNA+Wingdings3"/>
              </a:rPr>
              <a:t></a:t>
            </a:r>
            <a:r>
              <a:rPr dirty="0" sz="1500" spc="1006">
                <a:solidFill>
                  <a:srgbClr val="90c226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Reduces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manual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errors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8774" y="3802690"/>
            <a:ext cx="2504226" cy="30353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90c226"/>
                </a:solidFill>
                <a:latin typeface="PQTFNA+Wingdings3"/>
                <a:cs typeface="PQTFNA+Wingdings3"/>
              </a:rPr>
              <a:t></a:t>
            </a:r>
            <a:r>
              <a:rPr dirty="0" sz="1500" spc="1006">
                <a:solidFill>
                  <a:srgbClr val="90c226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Efficient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processing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68774" y="4341170"/>
            <a:ext cx="3596895" cy="84201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90c226"/>
                </a:solidFill>
                <a:latin typeface="PQTFNA+Wingdings3"/>
                <a:cs typeface="PQTFNA+Wingdings3"/>
              </a:rPr>
              <a:t></a:t>
            </a:r>
            <a:r>
              <a:rPr dirty="0" sz="1500" spc="1006">
                <a:solidFill>
                  <a:srgbClr val="90c226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Demonstrates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core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C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concepts</a:t>
            </a:r>
          </a:p>
          <a:p>
            <a:pPr marL="0" marR="0">
              <a:lnSpc>
                <a:spcPts val="2090"/>
              </a:lnSpc>
              <a:spcBef>
                <a:spcPts val="2149"/>
              </a:spcBef>
              <a:spcAft>
                <a:spcPts val="0"/>
              </a:spcAft>
            </a:pPr>
            <a:r>
              <a:rPr dirty="0" sz="1500">
                <a:solidFill>
                  <a:srgbClr val="90c226"/>
                </a:solidFill>
                <a:latin typeface="PQTFNA+Wingdings3"/>
                <a:cs typeface="PQTFNA+Wingdings3"/>
              </a:rPr>
              <a:t></a:t>
            </a:r>
            <a:r>
              <a:rPr dirty="0" sz="1500" spc="1006">
                <a:solidFill>
                  <a:srgbClr val="90c226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Beginner-friendly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project.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68774" y="605619"/>
            <a:ext cx="3426139" cy="64621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788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>
                <a:solidFill>
                  <a:srgbClr val="90c226"/>
                </a:solidFill>
                <a:latin typeface="RUTIIH+SegoeUISymbol"/>
                <a:cs typeface="RUTIIH+SegoeUISymbol"/>
              </a:rPr>
              <a:t>ꢆ</a:t>
            </a:r>
            <a:r>
              <a:rPr dirty="0" sz="3600" spc="184">
                <a:solidFill>
                  <a:srgbClr val="90c226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90c226"/>
                </a:solidFill>
                <a:latin typeface="PVJQHU+TrebuchetMS"/>
                <a:cs typeface="PVJQHU+TrebuchetMS"/>
              </a:rPr>
              <a:t>Future</a:t>
            </a:r>
            <a:r>
              <a:rPr dirty="0" sz="3600">
                <a:solidFill>
                  <a:srgbClr val="90c226"/>
                </a:solidFill>
                <a:latin typeface="PVJQHU+TrebuchetMS"/>
                <a:cs typeface="PVJQHU+TrebuchetMS"/>
              </a:rPr>
              <a:t> </a:t>
            </a:r>
            <a:r>
              <a:rPr dirty="0" sz="3600">
                <a:solidFill>
                  <a:srgbClr val="90c226"/>
                </a:solidFill>
                <a:latin typeface="PVJQHU+TrebuchetMS"/>
                <a:cs typeface="PVJQHU+TrebuchetMS"/>
              </a:rPr>
              <a:t>Scope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8774" y="2213493"/>
            <a:ext cx="2726066" cy="7048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90c226"/>
                </a:solidFill>
                <a:latin typeface="PQTFNA+Wingdings3"/>
                <a:cs typeface="PQTFNA+Wingdings3"/>
              </a:rPr>
              <a:t></a:t>
            </a:r>
            <a:r>
              <a:rPr dirty="0" sz="1500" spc="1006">
                <a:solidFill>
                  <a:srgbClr val="90c226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Add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grade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calculation</a:t>
            </a:r>
          </a:p>
          <a:p>
            <a:pPr marL="0" marR="0">
              <a:lnSpc>
                <a:spcPts val="2090"/>
              </a:lnSpc>
              <a:spcBef>
                <a:spcPts val="1069"/>
              </a:spcBef>
              <a:spcAft>
                <a:spcPts val="0"/>
              </a:spcAft>
            </a:pPr>
            <a:r>
              <a:rPr dirty="0" sz="1500">
                <a:solidFill>
                  <a:srgbClr val="90c226"/>
                </a:solidFill>
                <a:latin typeface="PQTFNA+Wingdings3"/>
                <a:cs typeface="PQTFNA+Wingdings3"/>
              </a:rPr>
              <a:t></a:t>
            </a:r>
            <a:r>
              <a:rPr dirty="0" sz="1500" spc="1006">
                <a:solidFill>
                  <a:srgbClr val="90c226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Store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data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in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files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8774" y="3016134"/>
            <a:ext cx="2762648" cy="7048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90c226"/>
                </a:solidFill>
                <a:latin typeface="PQTFNA+Wingdings3"/>
                <a:cs typeface="PQTFNA+Wingdings3"/>
              </a:rPr>
              <a:t></a:t>
            </a:r>
            <a:r>
              <a:rPr dirty="0" sz="1500" spc="1006">
                <a:solidFill>
                  <a:srgbClr val="90c226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Menu-driven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interface</a:t>
            </a:r>
          </a:p>
          <a:p>
            <a:pPr marL="0" marR="0">
              <a:lnSpc>
                <a:spcPts val="2090"/>
              </a:lnSpc>
              <a:spcBef>
                <a:spcPts val="1069"/>
              </a:spcBef>
              <a:spcAft>
                <a:spcPts val="0"/>
              </a:spcAft>
            </a:pPr>
            <a:r>
              <a:rPr dirty="0" sz="1500">
                <a:solidFill>
                  <a:srgbClr val="90c226"/>
                </a:solidFill>
                <a:latin typeface="PQTFNA+Wingdings3"/>
                <a:cs typeface="PQTFNA+Wingdings3"/>
              </a:rPr>
              <a:t></a:t>
            </a:r>
            <a:r>
              <a:rPr dirty="0" sz="1500" spc="1006">
                <a:solidFill>
                  <a:srgbClr val="90c226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Add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student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names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68774" y="3818774"/>
            <a:ext cx="3223958" cy="7048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90c226"/>
                </a:solidFill>
                <a:latin typeface="PQTFNA+Wingdings3"/>
                <a:cs typeface="PQTFNA+Wingdings3"/>
              </a:rPr>
              <a:t></a:t>
            </a:r>
            <a:r>
              <a:rPr dirty="0" sz="1500" spc="1006">
                <a:solidFill>
                  <a:srgbClr val="90c226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Convert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to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GUI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application</a:t>
            </a:r>
          </a:p>
          <a:p>
            <a:pPr marL="0" marR="0">
              <a:lnSpc>
                <a:spcPts val="2090"/>
              </a:lnSpc>
              <a:spcBef>
                <a:spcPts val="1069"/>
              </a:spcBef>
              <a:spcAft>
                <a:spcPts val="0"/>
              </a:spcAft>
            </a:pPr>
            <a:r>
              <a:rPr dirty="0" sz="1500">
                <a:solidFill>
                  <a:srgbClr val="90c226"/>
                </a:solidFill>
                <a:latin typeface="PQTFNA+Wingdings3"/>
                <a:cs typeface="PQTFNA+Wingdings3"/>
              </a:rPr>
              <a:t></a:t>
            </a:r>
            <a:r>
              <a:rPr dirty="0" sz="1500" spc="1006">
                <a:solidFill>
                  <a:srgbClr val="90c226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Database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 </a:t>
            </a:r>
            <a:r>
              <a:rPr dirty="0" sz="1800">
                <a:solidFill>
                  <a:srgbClr val="404040"/>
                </a:solidFill>
                <a:latin typeface="PVJQHU+TrebuchetMS"/>
                <a:cs typeface="PVJQHU+TrebuchetMS"/>
              </a:rPr>
              <a:t>integration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Administrator</dc:creator>
  <cp:lastModifiedBy>Administrator</cp:lastModifiedBy>
  <cp:revision>1</cp:revision>
  <dcterms:modified xsi:type="dcterms:W3CDTF">2026-01-06T08:54:25-06:00</dcterms:modified>
</cp:coreProperties>
</file>